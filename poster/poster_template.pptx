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32" d="100"/>
          <a:sy n="32" d="100"/>
        </p:scale>
        <p:origin x="2004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3891200" cy="3291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37577DFB-98BA-610C-2471-8E23ADBBB89A}"/>
              </a:ext>
            </a:extLst>
          </p:cNvPr>
          <p:cNvSpPr/>
          <p:nvPr/>
        </p:nvSpPr>
        <p:spPr>
          <a:xfrm>
            <a:off x="9098461" y="4407408"/>
            <a:ext cx="16486632" cy="16230599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0" cy="416052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160520"/>
            <a:ext cx="43891200" cy="164592"/>
          </a:xfrm>
          <a:prstGeom prst="rect">
            <a:avLst/>
          </a:prstGeom>
          <a:solidFill>
            <a:srgbClr val="857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069080" y="274320"/>
            <a:ext cx="3575304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1" dirty="0">
                <a:solidFill>
                  <a:srgbClr val="FFFFFF"/>
                </a:solidFill>
              </a:rPr>
              <a:t>Closed-Loop Widefield Control of Cortical Neural Activity via Optogenetics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4156" y="1577737"/>
            <a:ext cx="3575304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dirty="0">
                <a:solidFill>
                  <a:srgbClr val="D9CCAB"/>
                </a:solidFill>
              </a:rPr>
              <a:t>A. D</a:t>
            </a:r>
            <a:r>
              <a:rPr lang="en-US" sz="4800" b="0" dirty="0">
                <a:solidFill>
                  <a:srgbClr val="D9CCAB"/>
                </a:solidFill>
              </a:rPr>
              <a:t>eole</a:t>
            </a:r>
            <a:r>
              <a:rPr sz="4800" b="0" dirty="0">
                <a:solidFill>
                  <a:srgbClr val="D9CCAB"/>
                </a:solidFill>
              </a:rPr>
              <a:t>  ·</a:t>
            </a:r>
            <a:r>
              <a:rPr lang="en-US" sz="4800" dirty="0">
                <a:solidFill>
                  <a:srgbClr val="D9CCAB"/>
                </a:solidFill>
              </a:rPr>
              <a:t> A. Li· M Mesbahi· E. Shea-Brown ·  N. Steinmetz </a:t>
            </a:r>
          </a:p>
          <a:p>
            <a:pPr algn="ctr"/>
            <a:r>
              <a:rPr sz="4800" b="0" dirty="0">
                <a:solidFill>
                  <a:srgbClr val="D9CCAB"/>
                </a:solidFill>
              </a:rPr>
              <a:t>University of Washington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274843"/>
            <a:ext cx="35753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dirty="0">
                <a:solidFill>
                  <a:srgbClr val="D9CCAB"/>
                </a:solidFill>
              </a:rPr>
              <a:t>adityad@uw.edu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4416552"/>
            <a:ext cx="8641080" cy="16230599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Rectangle 12"/>
          <p:cNvSpPr/>
          <p:nvPr/>
        </p:nvSpPr>
        <p:spPr>
          <a:xfrm>
            <a:off x="256032" y="4416552"/>
            <a:ext cx="8641080" cy="658368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3192" y="4453128"/>
            <a:ext cx="836675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solidFill>
                  <a:srgbClr val="FFFFFF"/>
                </a:solidFill>
              </a:rPr>
              <a:t>Introduction +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" y="5193792"/>
            <a:ext cx="83118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B2E83"/>
                </a:solidFill>
              </a:rPr>
              <a:t>Motivation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" y="5696712"/>
            <a:ext cx="831189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222222"/>
                </a:solidFill>
              </a:rPr>
              <a:t>• Spontaneous cortical fluctuations drive trial-to-trial variability</a:t>
            </a:r>
            <a:endParaRPr lang="en-US" sz="2000" b="0" dirty="0">
              <a:solidFill>
                <a:srgbClr val="222222"/>
              </a:solidFill>
            </a:endParaRPr>
          </a:p>
          <a:p>
            <a:r>
              <a:rPr lang="en-US" sz="2000" dirty="0">
                <a:solidFill>
                  <a:srgbClr val="222222"/>
                </a:solidFill>
              </a:rPr>
              <a:t>• Pre-stimulus brain state (motion, oscillations) significantly affects response amplitude</a:t>
            </a:r>
          </a:p>
          <a:p>
            <a:r>
              <a:rPr lang="en-US" sz="2000" dirty="0">
                <a:solidFill>
                  <a:srgbClr val="222222"/>
                </a:solidFill>
              </a:rPr>
              <a:t>• Open-loop stimulation cannot compensate for ongoing neural state and regional interactions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" y="7481350"/>
            <a:ext cx="83118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4B2E83"/>
                </a:solidFill>
              </a:rPr>
              <a:t>Goal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" y="7807077"/>
            <a:ext cx="83118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222222"/>
                </a:solidFill>
              </a:rPr>
              <a:t>Drive cortical ΔF/F to a </a:t>
            </a:r>
            <a:r>
              <a:rPr lang="en-US" sz="2000" b="0" dirty="0">
                <a:solidFill>
                  <a:srgbClr val="222222"/>
                </a:solidFill>
              </a:rPr>
              <a:t>desired </a:t>
            </a:r>
            <a:r>
              <a:rPr sz="2000" b="0" dirty="0">
                <a:solidFill>
                  <a:srgbClr val="222222"/>
                </a:solidFill>
              </a:rPr>
              <a:t>reference using real-time feedback, reducing MSE and </a:t>
            </a:r>
            <a:r>
              <a:rPr lang="en-US" sz="2000" b="0" dirty="0">
                <a:solidFill>
                  <a:srgbClr val="222222"/>
                </a:solidFill>
              </a:rPr>
              <a:t>trial-to-trial variability</a:t>
            </a:r>
            <a:r>
              <a:rPr sz="2000" b="0" dirty="0">
                <a:solidFill>
                  <a:srgbClr val="222222"/>
                </a:solidFill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" y="8878824"/>
            <a:ext cx="83118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4B2E83"/>
                </a:solidFill>
              </a:rPr>
              <a:t>Proportional</a:t>
            </a:r>
            <a:r>
              <a:rPr lang="en-US" sz="2000" b="1" dirty="0">
                <a:solidFill>
                  <a:srgbClr val="4B2E83"/>
                </a:solidFill>
              </a:rPr>
              <a:t> </a:t>
            </a:r>
            <a:r>
              <a:rPr sz="2000" b="1" dirty="0">
                <a:solidFill>
                  <a:srgbClr val="4B2E83"/>
                </a:solidFill>
              </a:rPr>
              <a:t>I</a:t>
            </a:r>
            <a:r>
              <a:rPr lang="en-US" sz="2000" b="1" dirty="0">
                <a:solidFill>
                  <a:srgbClr val="4B2E83"/>
                </a:solidFill>
              </a:rPr>
              <a:t>ntegral</a:t>
            </a:r>
            <a:r>
              <a:rPr sz="2000" b="1" dirty="0">
                <a:solidFill>
                  <a:srgbClr val="4B2E83"/>
                </a:solidFill>
              </a:rPr>
              <a:t> Controller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" y="9363456"/>
            <a:ext cx="472110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222222"/>
                </a:solidFill>
              </a:rPr>
              <a:t>• Discrete-time PI feedback controller</a:t>
            </a:r>
            <a:endParaRPr lang="en-US" sz="2000" b="0" dirty="0">
              <a:solidFill>
                <a:srgbClr val="222222"/>
              </a:solidFill>
            </a:endParaRPr>
          </a:p>
          <a:p>
            <a:r>
              <a:rPr lang="en-US" sz="2000" dirty="0">
                <a:solidFill>
                  <a:srgbClr val="222222"/>
                </a:solidFill>
              </a:rPr>
              <a:t>• Feedback: kernel-avg ΔF/F in cortical ROI</a:t>
            </a:r>
          </a:p>
          <a:p>
            <a:r>
              <a:rPr lang="en-US" sz="2000" dirty="0">
                <a:solidFill>
                  <a:srgbClr val="222222"/>
                </a:solidFill>
              </a:rPr>
              <a:t>• Output: laser power (optogenetic inhibition)</a:t>
            </a:r>
          </a:p>
          <a:p>
            <a:endParaRPr lang="en-US" sz="2000" dirty="0">
              <a:solidFill>
                <a:srgbClr val="222222"/>
              </a:solidFill>
            </a:endParaRPr>
          </a:p>
          <a:p>
            <a:pPr algn="l"/>
            <a:endParaRPr sz="2000" b="0" dirty="0">
              <a:solidFill>
                <a:srgbClr val="222222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38129" y="10675421"/>
            <a:ext cx="83118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dirty="0">
                <a:solidFill>
                  <a:srgbClr val="4B2E83"/>
                </a:solidFill>
              </a:rPr>
              <a:t>Dataset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10972800"/>
            <a:ext cx="83118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rgbClr val="222222"/>
                </a:solidFill>
              </a:rPr>
              <a:t>3</a:t>
            </a:r>
            <a:r>
              <a:rPr sz="1600" b="0" dirty="0">
                <a:solidFill>
                  <a:srgbClr val="222222"/>
                </a:solidFill>
              </a:rPr>
              <a:t> mice  ·  1</a:t>
            </a:r>
            <a:r>
              <a:rPr lang="en-US" sz="1600" b="0" dirty="0">
                <a:solidFill>
                  <a:srgbClr val="222222"/>
                </a:solidFill>
              </a:rPr>
              <a:t>3</a:t>
            </a:r>
            <a:r>
              <a:rPr sz="1600" b="0" dirty="0">
                <a:solidFill>
                  <a:srgbClr val="222222"/>
                </a:solidFill>
              </a:rPr>
              <a:t> sessions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98280" y="4416552"/>
            <a:ext cx="16459200" cy="658368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35440" y="4453128"/>
            <a:ext cx="161848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LTI Validation — Impulse + Step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62872" y="5193792"/>
            <a:ext cx="79644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B2E83"/>
                </a:solidFill>
              </a:rPr>
              <a:t>Dose-Response Linearity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62872" y="5669279"/>
            <a:ext cx="79644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222222"/>
                </a:solidFill>
              </a:rPr>
              <a:t>Peak inhibition energy (∫ΔF/F, 0–200 </a:t>
            </a:r>
            <a:r>
              <a:rPr sz="2000" b="0" dirty="0" err="1">
                <a:solidFill>
                  <a:srgbClr val="222222"/>
                </a:solidFill>
              </a:rPr>
              <a:t>ms</a:t>
            </a:r>
            <a:r>
              <a:rPr sz="2000" b="0" dirty="0">
                <a:solidFill>
                  <a:srgbClr val="222222"/>
                </a:solidFill>
              </a:rPr>
              <a:t>) scales linearly with amplitude (R²&gt;0.97, n=3 sessions) — justifies LTI assumption.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428464" y="5193792"/>
            <a:ext cx="79644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B2E83"/>
                </a:solidFill>
              </a:rPr>
              <a:t>Impulse Transfer Function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428464" y="5669279"/>
            <a:ext cx="79644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222222"/>
                </a:solidFill>
              </a:rPr>
              <a:t>Amplitude-normali</a:t>
            </a:r>
            <a:r>
              <a:rPr lang="en-US" sz="2000" b="0" dirty="0">
                <a:solidFill>
                  <a:srgbClr val="222222"/>
                </a:solidFill>
              </a:rPr>
              <a:t>z</a:t>
            </a:r>
            <a:r>
              <a:rPr sz="2000" b="0" dirty="0">
                <a:solidFill>
                  <a:srgbClr val="222222"/>
                </a:solidFill>
              </a:rPr>
              <a:t>ed response fit with low-order LTI model</a:t>
            </a:r>
          </a:p>
        </p:txBody>
      </p:sp>
      <p:pic>
        <p:nvPicPr>
          <p:cNvPr id="39" name="Picture 38" descr="tf_data_vs_model_AL_0033_2025-01-29_en1_poster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8464" y="6657230"/>
            <a:ext cx="5960099" cy="5641848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9189721" y="14804136"/>
            <a:ext cx="16203167" cy="36576"/>
          </a:xfrm>
          <a:prstGeom prst="rect">
            <a:avLst/>
          </a:prstGeom>
          <a:solidFill>
            <a:srgbClr val="857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53144" y="15206472"/>
            <a:ext cx="161300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4B2E83"/>
                </a:solidFill>
              </a:rPr>
              <a:t>OL Step Response — Transfer Function (3 Sessions)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16568" y="15645384"/>
            <a:ext cx="161300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222222"/>
                </a:solidFill>
              </a:rPr>
              <a:t>Open-loop step response modelled with the same LTI plant; time constants match impulse TF, validating LTI model across stimulus types.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758648" y="4416552"/>
            <a:ext cx="17876520" cy="16245907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25758648" y="4416552"/>
            <a:ext cx="17876520" cy="592372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5895807" y="4453128"/>
            <a:ext cx="16962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solidFill>
                  <a:srgbClr val="FFFFFF"/>
                </a:solidFill>
              </a:rPr>
              <a:t>Controller Performance — CL vs OL (11 Sessions)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792739" y="5129784"/>
            <a:ext cx="550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dirty="0">
                <a:solidFill>
                  <a:srgbClr val="4B2E83"/>
                </a:solidFill>
              </a:rPr>
              <a:t>Variance Suppression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792739" y="5586984"/>
            <a:ext cx="55016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222222"/>
                </a:solidFill>
              </a:rPr>
              <a:t>CL (green) suppresses trial-to-trial variance vs OL (red) — all sessions.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895807" y="5036720"/>
            <a:ext cx="5501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4B2E83"/>
                </a:solidFill>
              </a:rPr>
              <a:t>MSE Reduction</a:t>
            </a:r>
            <a:r>
              <a:rPr lang="en-US" sz="2000" b="1" dirty="0">
                <a:solidFill>
                  <a:srgbClr val="4B2E83"/>
                </a:solidFill>
              </a:rPr>
              <a:t> and Trial Average Convergence</a:t>
            </a:r>
            <a:endParaRPr sz="2000" b="1" dirty="0">
              <a:solidFill>
                <a:srgbClr val="4B2E83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5923238" y="5555338"/>
            <a:ext cx="779068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dirty="0">
                <a:solidFill>
                  <a:srgbClr val="222222"/>
                </a:solidFill>
              </a:rPr>
              <a:t>Per-session violin (t = +1 → +3 s): CL MSE &lt; OL in every session.</a:t>
            </a:r>
            <a:r>
              <a:rPr lang="en-US" sz="2000" dirty="0">
                <a:solidFill>
                  <a:srgbClr val="222222"/>
                </a:solidFill>
              </a:rPr>
              <a:t> Mean trial trace: CL converges toward −5% reference; OL diverges.</a:t>
            </a:r>
          </a:p>
          <a:p>
            <a:pPr algn="l"/>
            <a:endParaRPr sz="2000" b="0" dirty="0">
              <a:solidFill>
                <a:srgbClr val="222222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26005536" y="15755111"/>
            <a:ext cx="16980408" cy="36576"/>
          </a:xfrm>
          <a:prstGeom prst="rect">
            <a:avLst/>
          </a:prstGeom>
          <a:solidFill>
            <a:srgbClr val="857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5895807" y="16059090"/>
            <a:ext cx="169072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4B2E83"/>
                </a:solidFill>
              </a:rPr>
              <a:t>Variable Reference Tracking — </a:t>
            </a:r>
            <a:r>
              <a:rPr lang="en-US" sz="2000" b="1" dirty="0">
                <a:solidFill>
                  <a:srgbClr val="4B2E83"/>
                </a:solidFill>
              </a:rPr>
              <a:t>Feed-Forward</a:t>
            </a:r>
            <a:r>
              <a:rPr sz="2000" b="1" dirty="0">
                <a:solidFill>
                  <a:srgbClr val="4B2E83"/>
                </a:solidFill>
              </a:rPr>
              <a:t> Controller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895807" y="16534578"/>
            <a:ext cx="64247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222222"/>
                </a:solidFill>
              </a:rPr>
              <a:t>Controller tracks a sinusoidal reference waveform. Trial-average ΔF/F follows target with low residual error.</a:t>
            </a:r>
          </a:p>
        </p:txBody>
      </p:sp>
      <p:pic>
        <p:nvPicPr>
          <p:cNvPr id="60" name="Picture 59" descr="trial_average_v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86496" y="16059090"/>
            <a:ext cx="8750990" cy="3908658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228600" y="21518271"/>
            <a:ext cx="16459200" cy="1000353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28600" y="21518271"/>
            <a:ext cx="16459200" cy="658368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65760" y="21554847"/>
            <a:ext cx="161848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solidFill>
                  <a:srgbClr val="FFFFFF"/>
                </a:solidFill>
              </a:rPr>
              <a:t>Impulse — Brain State Dependence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93192" y="22295511"/>
            <a:ext cx="79644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4B2E83"/>
                </a:solidFill>
              </a:rPr>
              <a:t>Motion: Inhibition by Tertile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3192" y="22752711"/>
            <a:ext cx="79644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>
                <a:solidFill>
                  <a:srgbClr val="222222"/>
                </a:solidFill>
              </a:rPr>
              <a:t>Low / mid / high trials: high motion reduces inhibition depth and increases inter-trial variability.</a:t>
            </a:r>
            <a:r>
              <a:rPr lang="en-US" sz="2000" dirty="0">
                <a:solidFill>
                  <a:srgbClr val="222222"/>
                </a:solidFill>
              </a:rPr>
              <a:t> </a:t>
            </a:r>
            <a:endParaRPr sz="2000" dirty="0">
              <a:solidFill>
                <a:srgbClr val="222222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558784" y="22295511"/>
            <a:ext cx="79644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4B2E83"/>
                </a:solidFill>
              </a:rPr>
              <a:t>Pre-</a:t>
            </a:r>
            <a:r>
              <a:rPr lang="en-US" sz="2000" b="1" dirty="0">
                <a:solidFill>
                  <a:srgbClr val="4B2E83"/>
                </a:solidFill>
              </a:rPr>
              <a:t>trial variance</a:t>
            </a:r>
            <a:r>
              <a:rPr sz="2000" b="1" dirty="0">
                <a:solidFill>
                  <a:srgbClr val="4B2E83"/>
                </a:solidFill>
              </a:rPr>
              <a:t> </a:t>
            </a:r>
            <a:r>
              <a:rPr lang="en-US" sz="2000" b="1" dirty="0">
                <a:solidFill>
                  <a:srgbClr val="4B2E83"/>
                </a:solidFill>
              </a:rPr>
              <a:t>(</a:t>
            </a:r>
            <a:r>
              <a:rPr sz="2000" b="1" dirty="0">
                <a:solidFill>
                  <a:srgbClr val="4B2E83"/>
                </a:solidFill>
              </a:rPr>
              <a:t>Spectral Power</a:t>
            </a:r>
            <a:r>
              <a:rPr lang="en-US" sz="2000" b="1" dirty="0">
                <a:solidFill>
                  <a:srgbClr val="4B2E83"/>
                </a:solidFill>
              </a:rPr>
              <a:t> 2-4Hz)</a:t>
            </a:r>
            <a:endParaRPr sz="2000" b="1" dirty="0">
              <a:solidFill>
                <a:srgbClr val="4B2E83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8558784" y="22752711"/>
            <a:ext cx="79644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222222"/>
                </a:solidFill>
              </a:rPr>
              <a:t>Pre-stimulus </a:t>
            </a:r>
            <a:r>
              <a:rPr lang="en-US" sz="2000" b="0" dirty="0">
                <a:solidFill>
                  <a:srgbClr val="222222"/>
                </a:solidFill>
              </a:rPr>
              <a:t> variance which mostly attributes to </a:t>
            </a:r>
            <a:r>
              <a:rPr sz="2000" b="0" dirty="0">
                <a:solidFill>
                  <a:srgbClr val="222222"/>
                </a:solidFill>
              </a:rPr>
              <a:t>2–4 Hz power </a:t>
            </a:r>
            <a:r>
              <a:rPr lang="en-US" sz="2000" b="0" dirty="0">
                <a:solidFill>
                  <a:srgbClr val="222222"/>
                </a:solidFill>
              </a:rPr>
              <a:t>relates to predictability of</a:t>
            </a:r>
            <a:r>
              <a:rPr sz="2000" b="0" dirty="0">
                <a:solidFill>
                  <a:srgbClr val="222222"/>
                </a:solidFill>
              </a:rPr>
              <a:t> inhibition depth.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888968" y="21518271"/>
            <a:ext cx="16459200" cy="1000353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16888968" y="21518271"/>
            <a:ext cx="16459200" cy="658368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7026128" y="21554847"/>
            <a:ext cx="161848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solidFill>
                  <a:srgbClr val="FFFFFF"/>
                </a:solidFill>
              </a:rPr>
              <a:t>Controller — Brain State Dependence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7053560" y="22295511"/>
            <a:ext cx="79644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B2E83"/>
                </a:solidFill>
              </a:rPr>
              <a:t>Motion: MSE by Quartile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7053560" y="22752711"/>
            <a:ext cx="79644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222222"/>
                </a:solidFill>
              </a:rPr>
              <a:t>High-motion trials have elevated MSE in OL; CL reduces this dependence — closed-loop partially compensates for motion.</a:t>
            </a:r>
          </a:p>
        </p:txBody>
      </p:sp>
      <p:pic>
        <p:nvPicPr>
          <p:cNvPr id="75" name="Picture 74" descr="motion_quartile_combin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3560" y="23895711"/>
            <a:ext cx="7964424" cy="7580376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25219152" y="22295511"/>
            <a:ext cx="79644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4B2E83"/>
                </a:solidFill>
              </a:rPr>
              <a:t>Frequency: Spectral Heatmap (</a:t>
            </a:r>
            <a:r>
              <a:rPr lang="en-US" sz="2000" b="1" dirty="0">
                <a:solidFill>
                  <a:srgbClr val="4B2E83"/>
                </a:solidFill>
              </a:rPr>
              <a:t>variance </a:t>
            </a:r>
            <a:r>
              <a:rPr sz="2000" b="1" dirty="0">
                <a:solidFill>
                  <a:srgbClr val="4B2E83"/>
                </a:solidFill>
              </a:rPr>
              <a:t>-</a:t>
            </a:r>
            <a:r>
              <a:rPr lang="en-US" sz="2000" b="1" dirty="0">
                <a:solidFill>
                  <a:srgbClr val="4B2E83"/>
                </a:solidFill>
              </a:rPr>
              <a:t>s</a:t>
            </a:r>
            <a:r>
              <a:rPr sz="2000" b="1" dirty="0">
                <a:solidFill>
                  <a:srgbClr val="4B2E83"/>
                </a:solidFill>
              </a:rPr>
              <a:t>orted)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5219152" y="22752711"/>
            <a:ext cx="79644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222222"/>
                </a:solidFill>
              </a:rPr>
              <a:t>Trials sorted by </a:t>
            </a:r>
            <a:r>
              <a:rPr lang="en-US" sz="2000" b="0" dirty="0">
                <a:solidFill>
                  <a:srgbClr val="222222"/>
                </a:solidFill>
              </a:rPr>
              <a:t>pre-stim variance</a:t>
            </a:r>
            <a:r>
              <a:rPr lang="en-US" sz="2000" dirty="0">
                <a:solidFill>
                  <a:srgbClr val="222222"/>
                </a:solidFill>
              </a:rPr>
              <a:t>,</a:t>
            </a:r>
            <a:r>
              <a:rPr sz="2000" b="0" dirty="0">
                <a:solidFill>
                  <a:srgbClr val="222222"/>
                </a:solidFill>
              </a:rPr>
              <a:t> high-</a:t>
            </a:r>
            <a:r>
              <a:rPr lang="en-US" sz="2000" dirty="0">
                <a:solidFill>
                  <a:srgbClr val="222222"/>
                </a:solidFill>
              </a:rPr>
              <a:t>variance</a:t>
            </a:r>
            <a:r>
              <a:rPr sz="2000" b="0" dirty="0">
                <a:solidFill>
                  <a:srgbClr val="222222"/>
                </a:solidFill>
              </a:rPr>
              <a:t> trials show elevated 2–4 Hz pre-stim power</a:t>
            </a:r>
            <a:r>
              <a:rPr lang="en-US" sz="2000" b="0" dirty="0">
                <a:solidFill>
                  <a:srgbClr val="222222"/>
                </a:solidFill>
              </a:rPr>
              <a:t> and higher tracking error</a:t>
            </a:r>
            <a:r>
              <a:rPr sz="2000" b="0" dirty="0">
                <a:solidFill>
                  <a:srgbClr val="222222"/>
                </a:solidFill>
              </a:rPr>
              <a:t>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3549336" y="21518271"/>
            <a:ext cx="10058400" cy="1000353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0" name="Rectangle 79"/>
          <p:cNvSpPr/>
          <p:nvPr/>
        </p:nvSpPr>
        <p:spPr>
          <a:xfrm>
            <a:off x="33549336" y="21518271"/>
            <a:ext cx="10058400" cy="658368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3686496" y="21554847"/>
            <a:ext cx="97840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Conclusions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3713928" y="22295511"/>
            <a:ext cx="97292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B2E83"/>
                </a:solidFill>
              </a:rPr>
              <a:t>Key Findings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3713928" y="22798431"/>
            <a:ext cx="972921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222222"/>
                </a:solidFill>
              </a:rPr>
              <a:t>✓  Cortical response is LTI: inhibition energy scales linearly with amplitude (R²&gt;0.97)</a:t>
            </a:r>
            <a:endParaRPr lang="en-US" sz="2000" b="0" dirty="0">
              <a:solidFill>
                <a:srgbClr val="222222"/>
              </a:solidFill>
            </a:endParaRPr>
          </a:p>
          <a:p>
            <a:r>
              <a:rPr lang="en-US" sz="2000" dirty="0">
                <a:solidFill>
                  <a:srgbClr val="222222"/>
                </a:solidFill>
              </a:rPr>
              <a:t>✓ LTI dynamics hold for trial-averaged dynamics, a key assumption in controller design</a:t>
            </a:r>
          </a:p>
          <a:p>
            <a:r>
              <a:rPr lang="en-US" sz="2000" dirty="0">
                <a:solidFill>
                  <a:srgbClr val="222222"/>
                </a:solidFill>
              </a:rPr>
              <a:t>✓  PI controller reduces MSE and variance in all experimental sessions</a:t>
            </a:r>
          </a:p>
          <a:p>
            <a:r>
              <a:rPr lang="en-US" sz="2000" dirty="0">
                <a:solidFill>
                  <a:srgbClr val="222222"/>
                </a:solidFill>
              </a:rPr>
              <a:t>✓  CL trials can be used to assess trial state (motion, synchronicity) based on tracking performance</a:t>
            </a:r>
          </a:p>
          <a:p>
            <a:r>
              <a:rPr lang="en-US" sz="2000" dirty="0">
                <a:solidFill>
                  <a:srgbClr val="222222"/>
                </a:solidFill>
              </a:rPr>
              <a:t>✓  Feedforward Controller adequately tracks variable reference waveforms</a:t>
            </a:r>
          </a:p>
          <a:p>
            <a:r>
              <a:rPr lang="en-US" sz="2000" dirty="0">
                <a:solidFill>
                  <a:srgbClr val="222222"/>
                </a:solidFill>
              </a:rPr>
              <a:t>--  Validation of parameter varying modelling approach</a:t>
            </a:r>
          </a:p>
          <a:p>
            <a:endParaRPr lang="en-US" sz="2000" dirty="0">
              <a:solidFill>
                <a:srgbClr val="222222"/>
              </a:solidFill>
            </a:endParaRPr>
          </a:p>
          <a:p>
            <a:endParaRPr lang="en-US" sz="2000" dirty="0">
              <a:solidFill>
                <a:srgbClr val="222222"/>
              </a:solidFill>
            </a:endParaRPr>
          </a:p>
          <a:p>
            <a:pPr algn="l"/>
            <a:endParaRPr sz="2000" b="0" dirty="0">
              <a:solidFill>
                <a:srgbClr val="222222"/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33713928" y="27187552"/>
            <a:ext cx="97292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B2E83"/>
                </a:solidFill>
              </a:rPr>
              <a:t>Future Work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3713928" y="27690472"/>
            <a:ext cx="972921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222222"/>
                </a:solidFill>
              </a:rPr>
              <a:t>→  </a:t>
            </a:r>
            <a:r>
              <a:rPr lang="en-US" sz="2000" b="0" dirty="0">
                <a:solidFill>
                  <a:srgbClr val="222222"/>
                </a:solidFill>
              </a:rPr>
              <a:t>Multimodal controller synthesis</a:t>
            </a:r>
          </a:p>
          <a:p>
            <a:r>
              <a:rPr lang="en-US" sz="2000" dirty="0">
                <a:solidFill>
                  <a:srgbClr val="222222"/>
                </a:solidFill>
              </a:rPr>
              <a:t>→  MPC-optimal control</a:t>
            </a:r>
          </a:p>
          <a:p>
            <a:r>
              <a:rPr lang="en-US" sz="2000" dirty="0">
                <a:solidFill>
                  <a:srgbClr val="222222"/>
                </a:solidFill>
              </a:rPr>
              <a:t>→  </a:t>
            </a:r>
            <a:r>
              <a:rPr lang="en-US" sz="2000" dirty="0" err="1">
                <a:solidFill>
                  <a:srgbClr val="222222"/>
                </a:solidFill>
              </a:rPr>
              <a:t>Regularizability</a:t>
            </a:r>
            <a:r>
              <a:rPr lang="en-US" sz="2000" dirty="0">
                <a:solidFill>
                  <a:srgbClr val="222222"/>
                </a:solidFill>
              </a:rPr>
              <a:t> analysis</a:t>
            </a:r>
          </a:p>
          <a:p>
            <a:endParaRPr lang="en-US" sz="2000" dirty="0">
              <a:solidFill>
                <a:srgbClr val="222222"/>
              </a:solidFill>
            </a:endParaRPr>
          </a:p>
          <a:p>
            <a:pPr algn="l"/>
            <a:endParaRPr sz="2000" b="0" dirty="0">
              <a:solidFill>
                <a:srgbClr val="222222"/>
              </a:solidFill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33713928" y="30122776"/>
            <a:ext cx="9729216" cy="54864"/>
          </a:xfrm>
          <a:prstGeom prst="rect">
            <a:avLst/>
          </a:prstGeom>
          <a:solidFill>
            <a:srgbClr val="857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33713928" y="30323944"/>
            <a:ext cx="972921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B2E83"/>
                </a:solidFill>
              </a:rPr>
              <a:t>Acknowledgments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3713928" y="30781144"/>
            <a:ext cx="97292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22222"/>
                </a:solidFill>
              </a:rPr>
              <a:t>Steinmetz lab, Dept of</a:t>
            </a:r>
            <a:r>
              <a:rPr lang="en-US" sz="1400" b="0" dirty="0">
                <a:solidFill>
                  <a:srgbClr val="222222"/>
                </a:solidFill>
              </a:rPr>
              <a:t> NBIO</a:t>
            </a:r>
            <a:r>
              <a:rPr sz="1400" b="0" dirty="0">
                <a:solidFill>
                  <a:srgbClr val="222222"/>
                </a:solidFill>
              </a:rPr>
              <a:t>, University of Washington.</a:t>
            </a:r>
            <a:endParaRPr lang="en-US" sz="1400" b="0" dirty="0">
              <a:solidFill>
                <a:srgbClr val="222222"/>
              </a:solidFill>
            </a:endParaRPr>
          </a:p>
          <a:p>
            <a:pPr algn="l"/>
            <a:r>
              <a:rPr sz="1400" b="0" dirty="0">
                <a:solidFill>
                  <a:srgbClr val="222222"/>
                </a:solidFill>
              </a:rPr>
              <a:t> All experiments conducted under approved IACUC protocols.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-27432" y="31777840"/>
            <a:ext cx="43891200" cy="301752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-27432" y="31732119"/>
            <a:ext cx="43891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dirty="0">
                <a:solidFill>
                  <a:srgbClr val="FFFFFF"/>
                </a:solidFill>
              </a:rPr>
              <a:t>Department of</a:t>
            </a:r>
            <a:r>
              <a:rPr lang="en-US" sz="1400" b="0" dirty="0">
                <a:solidFill>
                  <a:srgbClr val="FFFFFF"/>
                </a:solidFill>
              </a:rPr>
              <a:t> </a:t>
            </a:r>
            <a:r>
              <a:rPr lang="en-US" sz="1400" b="0" dirty="0" err="1">
                <a:solidFill>
                  <a:srgbClr val="FFFFFF"/>
                </a:solidFill>
              </a:rPr>
              <a:t>Cooputational</a:t>
            </a:r>
            <a:r>
              <a:rPr lang="en-US" sz="1400" b="0" dirty="0">
                <a:solidFill>
                  <a:srgbClr val="FFFFFF"/>
                </a:solidFill>
              </a:rPr>
              <a:t> </a:t>
            </a:r>
            <a:r>
              <a:rPr sz="1400" b="0" dirty="0">
                <a:solidFill>
                  <a:srgbClr val="FFFFFF"/>
                </a:solidFill>
              </a:rPr>
              <a:t> Neuroscience  ·  University of Washington  ·  Seattle, WA  98195</a:t>
            </a:r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E3CACEF7-D17F-DA9A-FFB4-C6828B1084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0528" t="32712" r="41063" b="29384"/>
          <a:stretch>
            <a:fillRect/>
          </a:stretch>
        </p:blipFill>
        <p:spPr>
          <a:xfrm>
            <a:off x="9693038" y="10826496"/>
            <a:ext cx="5315050" cy="3858768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02B9BF5B-1E26-91E2-C7B7-B4CF21BE7EF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0973" r="69656" b="28703"/>
          <a:stretch>
            <a:fillRect/>
          </a:stretch>
        </p:blipFill>
        <p:spPr>
          <a:xfrm>
            <a:off x="9266487" y="6340033"/>
            <a:ext cx="6177331" cy="4466844"/>
          </a:xfrm>
          <a:prstGeom prst="rect">
            <a:avLst/>
          </a:prstGeom>
        </p:spPr>
      </p:pic>
      <p:pic>
        <p:nvPicPr>
          <p:cNvPr id="44" name="Picture 43" descr="ol_tf_three_sessions_poster-1.png"/>
          <p:cNvPicPr>
            <a:picLocks noChangeAspect="1"/>
          </p:cNvPicPr>
          <p:nvPr/>
        </p:nvPicPr>
        <p:blipFill>
          <a:blip r:embed="rId6"/>
          <a:srcRect r="49709" b="66860"/>
          <a:stretch>
            <a:fillRect/>
          </a:stretch>
        </p:blipFill>
        <p:spPr>
          <a:xfrm>
            <a:off x="13317630" y="16746653"/>
            <a:ext cx="3521332" cy="3252877"/>
          </a:xfrm>
          <a:prstGeom prst="rect">
            <a:avLst/>
          </a:prstGeom>
        </p:spPr>
      </p:pic>
      <p:pic>
        <p:nvPicPr>
          <p:cNvPr id="103" name="Picture 102" descr="ol_tf_three_sessions_poster-1.png">
            <a:extLst>
              <a:ext uri="{FF2B5EF4-FFF2-40B4-BE49-F238E27FC236}">
                <a16:creationId xmlns:a16="http://schemas.microsoft.com/office/drawing/2014/main" id="{5F7C0EB3-42C3-2AB4-E45A-3708808FAF7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3066" r="49709" b="33880"/>
          <a:stretch>
            <a:fillRect/>
          </a:stretch>
        </p:blipFill>
        <p:spPr>
          <a:xfrm>
            <a:off x="17607610" y="16683824"/>
            <a:ext cx="3452807" cy="3315706"/>
          </a:xfrm>
          <a:prstGeom prst="rect">
            <a:avLst/>
          </a:prstGeom>
        </p:spPr>
      </p:pic>
      <p:pic>
        <p:nvPicPr>
          <p:cNvPr id="104" name="Picture 103" descr="ol_tf_three_sessions_poster-1.png">
            <a:extLst>
              <a:ext uri="{FF2B5EF4-FFF2-40B4-BE49-F238E27FC236}">
                <a16:creationId xmlns:a16="http://schemas.microsoft.com/office/drawing/2014/main" id="{DB755BC9-0BD6-792B-8CD6-9A6B7B7CBB7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67094" r="49709"/>
          <a:stretch>
            <a:fillRect/>
          </a:stretch>
        </p:blipFill>
        <p:spPr>
          <a:xfrm>
            <a:off x="21850423" y="16790050"/>
            <a:ext cx="3465027" cy="3280050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8BF4370F-4F8F-1331-F423-A7CB70C4DB9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5181" t="31261" r="3844" b="29466"/>
          <a:stretch>
            <a:fillRect/>
          </a:stretch>
        </p:blipFill>
        <p:spPr>
          <a:xfrm>
            <a:off x="9214542" y="16866702"/>
            <a:ext cx="3552047" cy="3203397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6B59DC46-E361-73D3-5971-C5F8C7DDFBB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56929" b="45678"/>
          <a:stretch>
            <a:fillRect/>
          </a:stretch>
        </p:blipFill>
        <p:spPr>
          <a:xfrm>
            <a:off x="3913848" y="7881460"/>
            <a:ext cx="4992227" cy="3264630"/>
          </a:xfrm>
          <a:prstGeom prst="rect">
            <a:avLst/>
          </a:prstGeom>
        </p:spPr>
      </p:pic>
      <p:pic>
        <p:nvPicPr>
          <p:cNvPr id="114" name="Picture 113">
            <a:extLst>
              <a:ext uri="{FF2B5EF4-FFF2-40B4-BE49-F238E27FC236}">
                <a16:creationId xmlns:a16="http://schemas.microsoft.com/office/drawing/2014/main" id="{84F191C8-5E7B-CFB2-3288-E090930739E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9108" t="53442" r="46969"/>
          <a:stretch>
            <a:fillRect/>
          </a:stretch>
        </p:blipFill>
        <p:spPr>
          <a:xfrm>
            <a:off x="1178135" y="15494628"/>
            <a:ext cx="7078897" cy="3890651"/>
          </a:xfrm>
          <a:prstGeom prst="rect">
            <a:avLst/>
          </a:prstGeom>
        </p:spPr>
      </p:pic>
      <p:pic>
        <p:nvPicPr>
          <p:cNvPr id="116" name="Picture 115">
            <a:extLst>
              <a:ext uri="{FF2B5EF4-FFF2-40B4-BE49-F238E27FC236}">
                <a16:creationId xmlns:a16="http://schemas.microsoft.com/office/drawing/2014/main" id="{85F6147E-4980-2DCD-47C5-EE9824AFD81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68756" t="53785" r="9180" b="5764"/>
          <a:stretch>
            <a:fillRect/>
          </a:stretch>
        </p:blipFill>
        <p:spPr>
          <a:xfrm>
            <a:off x="5423503" y="11433013"/>
            <a:ext cx="3336448" cy="3171773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929E52AF-C3B1-C106-692C-22BEDDC5449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69531" t="6611" r="4880" b="50000"/>
          <a:stretch>
            <a:fillRect/>
          </a:stretch>
        </p:blipFill>
        <p:spPr>
          <a:xfrm>
            <a:off x="420624" y="10816953"/>
            <a:ext cx="4547368" cy="3997787"/>
          </a:xfrm>
          <a:prstGeom prst="rect">
            <a:avLst/>
          </a:pr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DFF419A1-C29B-EDF4-E0AF-38E0F91E3CF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028174" y="6286499"/>
            <a:ext cx="16957770" cy="9358885"/>
          </a:xfrm>
          <a:prstGeom prst="rect">
            <a:avLst/>
          </a:prstGeom>
        </p:spPr>
      </p:pic>
      <p:pic>
        <p:nvPicPr>
          <p:cNvPr id="124" name="Picture 123">
            <a:extLst>
              <a:ext uri="{FF2B5EF4-FFF2-40B4-BE49-F238E27FC236}">
                <a16:creationId xmlns:a16="http://schemas.microsoft.com/office/drawing/2014/main" id="{B497676D-B4F4-B6E8-D3DF-737EA35B4CA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923593" y="17241336"/>
            <a:ext cx="6081997" cy="3421123"/>
          </a:xfrm>
          <a:prstGeom prst="rect">
            <a:avLst/>
          </a:prstGeom>
        </p:spPr>
      </p:pic>
      <p:pic>
        <p:nvPicPr>
          <p:cNvPr id="125" name="Picture 124" descr="UW logo-512 – UW Computational Finance &amp; Risk Management">
            <a:extLst>
              <a:ext uri="{FF2B5EF4-FFF2-40B4-BE49-F238E27FC236}">
                <a16:creationId xmlns:a16="http://schemas.microsoft.com/office/drawing/2014/main" id="{2CDB6BD3-7FE5-5025-7F0C-97D25FD4082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1" y="10715"/>
            <a:ext cx="4393097" cy="4149803"/>
          </a:xfrm>
          <a:prstGeom prst="rect">
            <a:avLst/>
          </a:prstGeom>
        </p:spPr>
      </p:pic>
      <p:pic>
        <p:nvPicPr>
          <p:cNvPr id="127" name="Picture 126">
            <a:extLst>
              <a:ext uri="{FF2B5EF4-FFF2-40B4-BE49-F238E27FC236}">
                <a16:creationId xmlns:a16="http://schemas.microsoft.com/office/drawing/2014/main" id="{5005984B-58FF-6EB8-8E94-3FDDB7A129C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6065" y="24340861"/>
            <a:ext cx="7399797" cy="6035044"/>
          </a:xfrm>
          <a:prstGeom prst="rect">
            <a:avLst/>
          </a:prstGeom>
        </p:spPr>
      </p:pic>
      <p:pic>
        <p:nvPicPr>
          <p:cNvPr id="129" name="Picture 128">
            <a:extLst>
              <a:ext uri="{FF2B5EF4-FFF2-40B4-BE49-F238E27FC236}">
                <a16:creationId xmlns:a16="http://schemas.microsoft.com/office/drawing/2014/main" id="{90D82073-F642-32B8-B1AA-C0FAB642455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36064" y="23824357"/>
            <a:ext cx="6885034" cy="7136925"/>
          </a:xfrm>
          <a:prstGeom prst="rect">
            <a:avLst/>
          </a:prstGeom>
        </p:spPr>
      </p:pic>
      <p:pic>
        <p:nvPicPr>
          <p:cNvPr id="133" name="Picture 132">
            <a:extLst>
              <a:ext uri="{FF2B5EF4-FFF2-40B4-BE49-F238E27FC236}">
                <a16:creationId xmlns:a16="http://schemas.microsoft.com/office/drawing/2014/main" id="{B8BBA158-422A-2E38-27CA-ABDFAB96366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959212" y="1295946"/>
            <a:ext cx="5311019" cy="1195599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18420056-6C0D-51A0-5515-8E05E9FA756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515130" y="25586062"/>
            <a:ext cx="5558498" cy="3009236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49ACD4D2-65B9-84EF-7268-C4C83A00336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283160" y="24218561"/>
            <a:ext cx="7722430" cy="50567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535</Words>
  <Application>Microsoft Office PowerPoint</Application>
  <PresentationFormat>Custom</PresentationFormat>
  <Paragraphs>58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ADITYA DEOLE</cp:lastModifiedBy>
  <cp:revision>4</cp:revision>
  <dcterms:created xsi:type="dcterms:W3CDTF">2013-01-27T09:14:16Z</dcterms:created>
  <dcterms:modified xsi:type="dcterms:W3CDTF">2026-05-21T19:16:38Z</dcterms:modified>
  <cp:category/>
</cp:coreProperties>
</file>